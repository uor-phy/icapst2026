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1383625" cy="30275213"/>
  <p:notesSz cx="20212050" cy="27298650"/>
  <p:defaultTextStyle>
    <a:defPPr>
      <a:defRPr lang="en-US"/>
    </a:defPPr>
    <a:lvl1pPr marL="0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1pPr>
    <a:lvl2pPr marL="646344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2pPr>
    <a:lvl3pPr marL="1292687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3pPr>
    <a:lvl4pPr marL="1939031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4pPr>
    <a:lvl5pPr marL="2585375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5pPr>
    <a:lvl6pPr marL="3231718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6pPr>
    <a:lvl7pPr marL="3878062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7pPr>
    <a:lvl8pPr marL="4524405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8pPr>
    <a:lvl9pPr marL="5170749" algn="l" defTabSz="1292687" rtl="0" eaLnBrk="1" latinLnBrk="0" hangingPunct="1">
      <a:defRPr sz="254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5" userDrawn="1">
          <p15:clr>
            <a:srgbClr val="A4A3A4"/>
          </p15:clr>
        </p15:guide>
        <p15:guide id="2" pos="67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4"/>
    <p:restoredTop sz="94713"/>
  </p:normalViewPr>
  <p:slideViewPr>
    <p:cSldViewPr>
      <p:cViewPr>
        <p:scale>
          <a:sx n="125" d="100"/>
          <a:sy n="125" d="100"/>
        </p:scale>
        <p:origin x="-7808" y="-19160"/>
      </p:cViewPr>
      <p:guideLst>
        <p:guide orient="horz" pos="9535"/>
        <p:guide pos="673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3788" y="812800"/>
            <a:ext cx="2832100" cy="400843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2430" b="0" strike="noStrike" spc="-1">
                <a:solidFill>
                  <a:srgbClr val="000000"/>
                </a:solidFill>
                <a:latin typeface="Times New Roman"/>
              </a:rPr>
              <a:t>Click to move the slide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IN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IN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r>
              <a:rPr lang="en-IN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r>
              <a:rPr lang="en-IN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r"/>
            <a:fld id="{90BC15C5-3BCB-439D-A097-7DF6F34E2EAC}" type="slidenum">
              <a:rPr lang="en-IN" sz="1400" b="0" strike="noStrike" spc="-1">
                <a:latin typeface="Times New Roman"/>
              </a:rPr>
              <a:pPr algn="r"/>
              <a:t>‹#›</a:t>
            </a:fld>
            <a:endParaRPr lang="en-IN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1pPr>
    <a:lvl2pPr marL="646344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2pPr>
    <a:lvl3pPr marL="1292687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3pPr>
    <a:lvl4pPr marL="1939031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4pPr>
    <a:lvl5pPr marL="2585375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5pPr>
    <a:lvl6pPr marL="3231718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6pPr>
    <a:lvl7pPr marL="3878062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7pPr>
    <a:lvl8pPr marL="4524405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8pPr>
    <a:lvl9pPr marL="5170749" algn="l" defTabSz="1292687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3238" y="3414713"/>
            <a:ext cx="6505575" cy="9212262"/>
          </a:xfrm>
          <a:prstGeom prst="rect">
            <a:avLst/>
          </a:prstGeom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2020320" y="13135680"/>
            <a:ext cx="16171200" cy="10752480"/>
          </a:xfrm>
          <a:prstGeom prst="rect">
            <a:avLst/>
          </a:prstGeom>
        </p:spPr>
        <p:txBody>
          <a:bodyPr lIns="260640" tIns="130320" rIns="260640" bIns="130320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  <p:sp>
        <p:nvSpPr>
          <p:cNvPr id="85" name="TextShape 3"/>
          <p:cNvSpPr txBox="1"/>
          <p:nvPr/>
        </p:nvSpPr>
        <p:spPr>
          <a:xfrm>
            <a:off x="11446560" y="25929360"/>
            <a:ext cx="8760240" cy="1369080"/>
          </a:xfrm>
          <a:prstGeom prst="rect">
            <a:avLst/>
          </a:prstGeom>
          <a:noFill/>
          <a:ln>
            <a:noFill/>
          </a:ln>
        </p:spPr>
        <p:txBody>
          <a:bodyPr lIns="260640" tIns="130320" rIns="260640" bIns="130320" anchor="b">
            <a:noAutofit/>
          </a:bodyPr>
          <a:lstStyle/>
          <a:p>
            <a:pPr algn="r">
              <a:lnSpc>
                <a:spcPct val="100000"/>
              </a:lnSpc>
            </a:pPr>
            <a:fld id="{CF0BD793-420D-4D9A-943C-46D25747FDEC}" type="slidenum">
              <a:rPr lang="en-IN" sz="34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</a:t>
            </a:fld>
            <a:endParaRPr lang="en-IN" sz="34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ubTitle"/>
          </p:nvPr>
        </p:nvSpPr>
        <p:spPr>
          <a:xfrm>
            <a:off x="339607" y="3924558"/>
            <a:ext cx="6618007" cy="98050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IN" sz="4523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6618007" cy="98050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3229575" cy="980504"/>
          </a:xfrm>
          <a:prstGeom prst="rect">
            <a:avLst/>
          </a:prstGeom>
        </p:spPr>
        <p:txBody>
          <a:bodyPr lIns="0" tIns="0" rIns="0" bIns="0">
            <a:normAutofit fontScale="82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3731094" y="3924558"/>
            <a:ext cx="3229575" cy="980504"/>
          </a:xfrm>
          <a:prstGeom prst="rect">
            <a:avLst/>
          </a:prstGeom>
        </p:spPr>
        <p:txBody>
          <a:bodyPr lIns="0" tIns="0" rIns="0" bIns="0">
            <a:normAutofit fontScale="82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subTitle"/>
          </p:nvPr>
        </p:nvSpPr>
        <p:spPr>
          <a:xfrm>
            <a:off x="339607" y="560724"/>
            <a:ext cx="20704312" cy="14292861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IN" sz="4523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3731094" y="3924558"/>
            <a:ext cx="3229575" cy="980504"/>
          </a:xfrm>
          <a:prstGeom prst="rect">
            <a:avLst/>
          </a:prstGeom>
        </p:spPr>
        <p:txBody>
          <a:bodyPr lIns="0" tIns="0" rIns="0" bIns="0">
            <a:normAutofit fontScale="82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339607" y="4436944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3229575" cy="980504"/>
          </a:xfrm>
          <a:prstGeom prst="rect">
            <a:avLst/>
          </a:prstGeom>
        </p:spPr>
        <p:txBody>
          <a:bodyPr lIns="0" tIns="0" rIns="0" bIns="0">
            <a:normAutofit fontScale="82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731094" y="3924558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3731094" y="4436944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3731094" y="3924558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body"/>
          </p:nvPr>
        </p:nvSpPr>
        <p:spPr>
          <a:xfrm>
            <a:off x="339607" y="4436944"/>
            <a:ext cx="6618007" cy="467609"/>
          </a:xfrm>
          <a:prstGeom prst="rect">
            <a:avLst/>
          </a:prstGeom>
        </p:spPr>
        <p:txBody>
          <a:bodyPr lIns="0" tIns="0" rIns="0" bIns="0">
            <a:normAutofit fontScale="7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6618007" cy="467609"/>
          </a:xfrm>
          <a:prstGeom prst="rect">
            <a:avLst/>
          </a:prstGeom>
        </p:spPr>
        <p:txBody>
          <a:bodyPr lIns="0" tIns="0" rIns="0" bIns="0">
            <a:normAutofit fontScale="7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339607" y="4436944"/>
            <a:ext cx="6618007" cy="467609"/>
          </a:xfrm>
          <a:prstGeom prst="rect">
            <a:avLst/>
          </a:prstGeom>
        </p:spPr>
        <p:txBody>
          <a:bodyPr lIns="0" tIns="0" rIns="0" bIns="0">
            <a:normAutofit fontScale="7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3731094" y="3924558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339607" y="4436944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3731094" y="4436944"/>
            <a:ext cx="3229575" cy="467609"/>
          </a:xfrm>
          <a:prstGeom prst="rect">
            <a:avLst/>
          </a:prstGeom>
        </p:spPr>
        <p:txBody>
          <a:bodyPr lIns="0" tIns="0" rIns="0" bIns="0">
            <a:normAutofit fontScale="27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43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2130817" cy="467609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2577347" y="3924558"/>
            <a:ext cx="2130817" cy="467609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815596" y="3924558"/>
            <a:ext cx="2130817" cy="467609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339607" y="4436944"/>
            <a:ext cx="2130817" cy="467609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2577347" y="4436944"/>
            <a:ext cx="2130817" cy="467609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body"/>
          </p:nvPr>
        </p:nvSpPr>
        <p:spPr>
          <a:xfrm>
            <a:off x="4815596" y="4436944"/>
            <a:ext cx="2130817" cy="467609"/>
          </a:xfrm>
          <a:prstGeom prst="rect">
            <a:avLst/>
          </a:prstGeom>
        </p:spPr>
        <p:txBody>
          <a:bodyPr lIns="0" tIns="0" rIns="0" bIns="0">
            <a:normAutofit fontScale="14000"/>
          </a:bodyPr>
          <a:lstStyle/>
          <a:p>
            <a:endParaRPr lang="en-US" sz="3915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39607" y="560724"/>
            <a:ext cx="20704312" cy="3082964"/>
          </a:xfrm>
          <a:prstGeom prst="rect">
            <a:avLst/>
          </a:prstGeom>
        </p:spPr>
        <p:txBody>
          <a:bodyPr lIns="110520" tIns="55440" rIns="110520" bIns="5544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65" b="1" strike="noStrike" spc="-1">
                <a:solidFill>
                  <a:srgbClr val="FFFFFF"/>
                </a:solidFill>
                <a:latin typeface="Arial"/>
              </a:rPr>
              <a:t>Poster Presentation Title</a:t>
            </a:r>
            <a:br/>
            <a:r>
              <a:rPr lang="en-US" sz="1371" b="1" strike="noStrike" spc="-1">
                <a:solidFill>
                  <a:srgbClr val="FFFFFF"/>
                </a:solidFill>
                <a:latin typeface="Arial"/>
              </a:rPr>
              <a:t>List Author Name(s)</a:t>
            </a:r>
            <a:br/>
            <a:r>
              <a:rPr lang="en-US" sz="1371" b="1" strike="noStrike" spc="-1">
                <a:solidFill>
                  <a:srgbClr val="FFFFFF"/>
                </a:solidFill>
                <a:latin typeface="Arial"/>
              </a:rPr>
              <a:t>List Affiliated Institutions</a:t>
            </a:r>
            <a:endParaRPr lang="en-US" sz="1371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39607" y="3924558"/>
            <a:ext cx="6618007" cy="980504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93"/>
              </a:spcBef>
              <a:tabLst>
                <a:tab pos="0" algn="l"/>
              </a:tabLst>
            </a:pPr>
            <a:r>
              <a:rPr lang="en-US" sz="1371" b="1" strike="noStrike" spc="-1">
                <a:solidFill>
                  <a:srgbClr val="FFFFFF"/>
                </a:solidFill>
                <a:latin typeface="Arial"/>
              </a:rPr>
              <a:t>Abstract or Introduction</a:t>
            </a:r>
            <a:endParaRPr lang="en-US" sz="1371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339607" y="5185933"/>
            <a:ext cx="6618007" cy="7988534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30"/>
              </a:spcBef>
              <a:tabLst>
                <a:tab pos="0" algn="l"/>
              </a:tabLst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339607" y="13455846"/>
            <a:ext cx="6618007" cy="980504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93"/>
              </a:spcBef>
              <a:tabLst>
                <a:tab pos="0" algn="l"/>
              </a:tabLst>
            </a:pPr>
            <a:r>
              <a:rPr lang="en-US" sz="1371" b="1" strike="noStrike" spc="-1">
                <a:solidFill>
                  <a:srgbClr val="FFFFFF"/>
                </a:solidFill>
                <a:latin typeface="Arial"/>
              </a:rPr>
              <a:t>Objectives</a:t>
            </a:r>
            <a:endParaRPr lang="en-US" sz="1371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339607" y="14717220"/>
            <a:ext cx="6618007" cy="6727160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30"/>
              </a:spcBef>
              <a:tabLst>
                <a:tab pos="0" algn="l"/>
              </a:tabLst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5" name="PlaceHolder 6"/>
          <p:cNvSpPr>
            <a:spLocks noGrp="1"/>
          </p:cNvSpPr>
          <p:nvPr>
            <p:ph type="body"/>
          </p:nvPr>
        </p:nvSpPr>
        <p:spPr>
          <a:xfrm>
            <a:off x="339607" y="21725251"/>
            <a:ext cx="6618007" cy="980504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93"/>
              </a:spcBef>
              <a:tabLst>
                <a:tab pos="0" algn="l"/>
              </a:tabLst>
            </a:pPr>
            <a:r>
              <a:rPr lang="en-US" sz="1371" b="1" strike="noStrike" spc="-1">
                <a:solidFill>
                  <a:srgbClr val="FFFFFF"/>
                </a:solidFill>
                <a:latin typeface="Arial"/>
              </a:rPr>
              <a:t>Methods</a:t>
            </a:r>
            <a:endParaRPr lang="en-US" sz="1371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body"/>
          </p:nvPr>
        </p:nvSpPr>
        <p:spPr>
          <a:xfrm>
            <a:off x="339607" y="22986625"/>
            <a:ext cx="6618007" cy="6727160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30"/>
              </a:spcBef>
              <a:tabLst>
                <a:tab pos="0" algn="l"/>
              </a:tabLst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Copy and paste title bars and text boxes to create additional sections.</a:t>
            </a:r>
          </a:p>
        </p:txBody>
      </p:sp>
      <p:sp>
        <p:nvSpPr>
          <p:cNvPr id="7" name="PlaceHolder 8"/>
          <p:cNvSpPr>
            <a:spLocks noGrp="1"/>
          </p:cNvSpPr>
          <p:nvPr>
            <p:ph type="body"/>
          </p:nvPr>
        </p:nvSpPr>
        <p:spPr>
          <a:xfrm>
            <a:off x="7382250" y="3924558"/>
            <a:ext cx="6618007" cy="980504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93"/>
              </a:spcBef>
              <a:tabLst>
                <a:tab pos="0" algn="l"/>
              </a:tabLst>
            </a:pPr>
            <a:r>
              <a:rPr lang="en-US" sz="1371" b="1" strike="noStrike" spc="-1">
                <a:solidFill>
                  <a:srgbClr val="FFFFFF"/>
                </a:solidFill>
                <a:latin typeface="Arial"/>
              </a:rPr>
              <a:t>Results</a:t>
            </a:r>
            <a:endParaRPr lang="en-US" sz="1371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9"/>
          <p:cNvSpPr>
            <a:spLocks noGrp="1"/>
          </p:cNvSpPr>
          <p:nvPr>
            <p:ph type="body"/>
          </p:nvPr>
        </p:nvSpPr>
        <p:spPr>
          <a:xfrm>
            <a:off x="14425403" y="22986625"/>
            <a:ext cx="6618007" cy="6727160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 marL="297360" indent="-297000">
              <a:lnSpc>
                <a:spcPct val="100000"/>
              </a:lnSpc>
              <a:spcBef>
                <a:spcPts val="130"/>
              </a:spcBef>
              <a:buClr>
                <a:srgbClr val="000000"/>
              </a:buClr>
              <a:buFont typeface="Arial"/>
              <a:buChar char="•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Click to edit Master text styles</a:t>
            </a:r>
          </a:p>
          <a:p>
            <a:pPr marL="910286" lvl="1" indent="-349562">
              <a:lnSpc>
                <a:spcPct val="100000"/>
              </a:lnSpc>
              <a:spcBef>
                <a:spcPts val="184"/>
              </a:spcBef>
              <a:buClr>
                <a:srgbClr val="000000"/>
              </a:buClr>
              <a:buFont typeface="Arial"/>
              <a:buChar char="–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Second level</a:t>
            </a:r>
          </a:p>
          <a:p>
            <a:pPr marL="1400284" lvl="2" indent="-279344">
              <a:lnSpc>
                <a:spcPct val="100000"/>
              </a:lnSpc>
              <a:spcBef>
                <a:spcPts val="184"/>
              </a:spcBef>
              <a:buClr>
                <a:srgbClr val="000000"/>
              </a:buClr>
              <a:buFont typeface="Arial"/>
              <a:buChar char="•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Third level</a:t>
            </a:r>
          </a:p>
          <a:p>
            <a:pPr marL="1960499" lvl="3" indent="-279344">
              <a:lnSpc>
                <a:spcPct val="100000"/>
              </a:lnSpc>
              <a:spcBef>
                <a:spcPts val="184"/>
              </a:spcBef>
              <a:buClr>
                <a:srgbClr val="000000"/>
              </a:buClr>
              <a:buFont typeface="Arial"/>
              <a:buChar char="–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Fourth level</a:t>
            </a:r>
          </a:p>
          <a:p>
            <a:pPr marL="2520714" lvl="4" indent="-279344">
              <a:lnSpc>
                <a:spcPct val="100000"/>
              </a:lnSpc>
              <a:spcBef>
                <a:spcPts val="184"/>
              </a:spcBef>
              <a:buClr>
                <a:srgbClr val="000000"/>
              </a:buClr>
              <a:buFont typeface="Arial"/>
              <a:buChar char="»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Fifth level</a:t>
            </a:r>
          </a:p>
        </p:txBody>
      </p:sp>
      <p:sp>
        <p:nvSpPr>
          <p:cNvPr id="9" name="PlaceHolder 10"/>
          <p:cNvSpPr>
            <a:spLocks noGrp="1"/>
          </p:cNvSpPr>
          <p:nvPr>
            <p:ph type="body"/>
          </p:nvPr>
        </p:nvSpPr>
        <p:spPr>
          <a:xfrm>
            <a:off x="14425403" y="3924558"/>
            <a:ext cx="6618007" cy="980504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93"/>
              </a:spcBef>
              <a:tabLst>
                <a:tab pos="0" algn="l"/>
              </a:tabLst>
            </a:pPr>
            <a:r>
              <a:rPr lang="en-US" sz="1371" b="1" strike="noStrike" spc="-1">
                <a:solidFill>
                  <a:srgbClr val="FFFFFF"/>
                </a:solidFill>
                <a:latin typeface="Arial"/>
              </a:rPr>
              <a:t>Conclusion</a:t>
            </a:r>
            <a:endParaRPr lang="en-US" sz="1371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11"/>
          <p:cNvSpPr>
            <a:spLocks noGrp="1"/>
          </p:cNvSpPr>
          <p:nvPr>
            <p:ph type="body"/>
          </p:nvPr>
        </p:nvSpPr>
        <p:spPr>
          <a:xfrm>
            <a:off x="14425403" y="5185932"/>
            <a:ext cx="6618007" cy="16258448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 marL="297360" indent="-297000">
              <a:lnSpc>
                <a:spcPct val="100000"/>
              </a:lnSpc>
              <a:spcBef>
                <a:spcPts val="130"/>
              </a:spcBef>
              <a:buClr>
                <a:srgbClr val="000000"/>
              </a:buClr>
              <a:buFont typeface="Arial"/>
              <a:buChar char="•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Click to edit Master text styles</a:t>
            </a:r>
          </a:p>
          <a:p>
            <a:pPr marL="910286" lvl="1" indent="-349562">
              <a:lnSpc>
                <a:spcPct val="100000"/>
              </a:lnSpc>
              <a:spcBef>
                <a:spcPts val="184"/>
              </a:spcBef>
              <a:buClr>
                <a:srgbClr val="000000"/>
              </a:buClr>
              <a:buFont typeface="Arial"/>
              <a:buChar char="–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Second level</a:t>
            </a:r>
          </a:p>
          <a:p>
            <a:pPr marL="1400284" lvl="2" indent="-279344">
              <a:lnSpc>
                <a:spcPct val="100000"/>
              </a:lnSpc>
              <a:spcBef>
                <a:spcPts val="184"/>
              </a:spcBef>
              <a:buClr>
                <a:srgbClr val="000000"/>
              </a:buClr>
              <a:buFont typeface="Arial"/>
              <a:buChar char="•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Third level</a:t>
            </a:r>
          </a:p>
          <a:p>
            <a:pPr marL="1960499" lvl="3" indent="-279344">
              <a:lnSpc>
                <a:spcPct val="100000"/>
              </a:lnSpc>
              <a:spcBef>
                <a:spcPts val="184"/>
              </a:spcBef>
              <a:buClr>
                <a:srgbClr val="000000"/>
              </a:buClr>
              <a:buFont typeface="Arial"/>
              <a:buChar char="–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Fourth level</a:t>
            </a:r>
          </a:p>
          <a:p>
            <a:pPr marL="2520714" lvl="4" indent="-279344">
              <a:lnSpc>
                <a:spcPct val="100000"/>
              </a:lnSpc>
              <a:spcBef>
                <a:spcPts val="184"/>
              </a:spcBef>
              <a:buClr>
                <a:srgbClr val="000000"/>
              </a:buClr>
              <a:buFont typeface="Arial"/>
              <a:buChar char="»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Fifth level</a:t>
            </a:r>
          </a:p>
        </p:txBody>
      </p:sp>
      <p:sp>
        <p:nvSpPr>
          <p:cNvPr id="11" name="PlaceHolder 12"/>
          <p:cNvSpPr>
            <a:spLocks noGrp="1"/>
          </p:cNvSpPr>
          <p:nvPr>
            <p:ph type="body"/>
          </p:nvPr>
        </p:nvSpPr>
        <p:spPr>
          <a:xfrm>
            <a:off x="14425403" y="21725251"/>
            <a:ext cx="6618007" cy="980504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93"/>
              </a:spcBef>
              <a:tabLst>
                <a:tab pos="0" algn="l"/>
              </a:tabLst>
            </a:pPr>
            <a:r>
              <a:rPr lang="en-US" sz="1371" b="1" strike="noStrike" spc="-1">
                <a:solidFill>
                  <a:srgbClr val="FFFFFF"/>
                </a:solidFill>
                <a:latin typeface="Arial"/>
              </a:rPr>
              <a:t>References</a:t>
            </a:r>
            <a:endParaRPr lang="en-US" sz="1371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13"/>
          <p:cNvSpPr>
            <a:spLocks noGrp="1"/>
          </p:cNvSpPr>
          <p:nvPr>
            <p:ph type="body"/>
          </p:nvPr>
        </p:nvSpPr>
        <p:spPr>
          <a:xfrm>
            <a:off x="7382250" y="5185932"/>
            <a:ext cx="6618007" cy="24527853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spcBef>
                <a:spcPts val="130"/>
              </a:spcBef>
              <a:tabLst>
                <a:tab pos="0" algn="l"/>
              </a:tabLst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13" name="PlaceHolder 14"/>
          <p:cNvSpPr>
            <a:spLocks noGrp="1"/>
          </p:cNvSpPr>
          <p:nvPr>
            <p:ph type="body"/>
          </p:nvPr>
        </p:nvSpPr>
        <p:spPr>
          <a:xfrm>
            <a:off x="594185" y="841086"/>
            <a:ext cx="1526958" cy="2522240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50" b="0" strike="noStrike" spc="-1">
                <a:solidFill>
                  <a:srgbClr val="000000"/>
                </a:solidFill>
                <a:latin typeface="Times New Roman"/>
              </a:rPr>
              <a:t>LOGO</a:t>
            </a:r>
          </a:p>
        </p:txBody>
      </p:sp>
      <p:sp>
        <p:nvSpPr>
          <p:cNvPr id="14" name="PlaceHolder 15"/>
          <p:cNvSpPr>
            <a:spLocks noGrp="1"/>
          </p:cNvSpPr>
          <p:nvPr>
            <p:ph type="body"/>
          </p:nvPr>
        </p:nvSpPr>
        <p:spPr>
          <a:xfrm>
            <a:off x="19346903" y="841086"/>
            <a:ext cx="1526958" cy="2522240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50" b="0" strike="noStrike" spc="-1">
                <a:solidFill>
                  <a:srgbClr val="000000"/>
                </a:solidFill>
                <a:latin typeface="Times New Roman"/>
              </a:rPr>
              <a:t>LOGO</a:t>
            </a:r>
          </a:p>
        </p:txBody>
      </p:sp>
      <p:sp>
        <p:nvSpPr>
          <p:cNvPr id="15" name="PlaceHolder 16"/>
          <p:cNvSpPr>
            <a:spLocks noGrp="1"/>
          </p:cNvSpPr>
          <p:nvPr>
            <p:ph type="body"/>
          </p:nvPr>
        </p:nvSpPr>
        <p:spPr>
          <a:xfrm>
            <a:off x="7891406" y="14857147"/>
            <a:ext cx="5600205" cy="6166436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Click to edit the outline text format</a:t>
            </a:r>
          </a:p>
          <a:p>
            <a:pPr marL="1221178" lvl="1" indent="-457942">
              <a:spcBef>
                <a:spcPts val="160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Second Outline Level</a:t>
            </a:r>
          </a:p>
          <a:p>
            <a:pPr marL="1831766" lvl="2" indent="-407059">
              <a:spcBef>
                <a:spcPts val="1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Third Outline Level</a:t>
            </a:r>
          </a:p>
          <a:p>
            <a:pPr marL="2442355" lvl="3" indent="-305294">
              <a:spcBef>
                <a:spcPts val="8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Fourth Outline Level</a:t>
            </a:r>
          </a:p>
          <a:p>
            <a:pPr marL="3052944" lvl="4" indent="-305294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Fifth Outline Level</a:t>
            </a:r>
          </a:p>
          <a:p>
            <a:pPr marL="3663533" lvl="5" indent="-305294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Sixth Outline Level</a:t>
            </a:r>
          </a:p>
          <a:p>
            <a:pPr marL="4274122" lvl="6" indent="-305294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Seventh Outline Level</a:t>
            </a:r>
          </a:p>
        </p:txBody>
      </p:sp>
      <p:sp>
        <p:nvSpPr>
          <p:cNvPr id="16" name="PlaceHolder 17"/>
          <p:cNvSpPr>
            <a:spLocks noGrp="1"/>
          </p:cNvSpPr>
          <p:nvPr>
            <p:ph type="body"/>
          </p:nvPr>
        </p:nvSpPr>
        <p:spPr>
          <a:xfrm>
            <a:off x="7891406" y="22566337"/>
            <a:ext cx="5600205" cy="6166436"/>
          </a:xfrm>
          <a:prstGeom prst="rect">
            <a:avLst/>
          </a:prstGeom>
        </p:spPr>
        <p:txBody>
          <a:bodyPr lIns="110520" tIns="55440" rIns="110520" bIns="5544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Click to edit the outline text format</a:t>
            </a:r>
          </a:p>
          <a:p>
            <a:pPr marL="1221178" lvl="1" indent="-457942">
              <a:spcBef>
                <a:spcPts val="160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Second Outline Level</a:t>
            </a:r>
          </a:p>
          <a:p>
            <a:pPr marL="1831766" lvl="2" indent="-407059">
              <a:spcBef>
                <a:spcPts val="1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Third Outline Level</a:t>
            </a:r>
          </a:p>
          <a:p>
            <a:pPr marL="2442355" lvl="3" indent="-305294">
              <a:spcBef>
                <a:spcPts val="8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Fourth Outline Level</a:t>
            </a:r>
          </a:p>
          <a:p>
            <a:pPr marL="3052944" lvl="4" indent="-305294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Fifth Outline Level</a:t>
            </a:r>
          </a:p>
          <a:p>
            <a:pPr marL="3663533" lvl="5" indent="-305294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Sixth Outline Level</a:t>
            </a:r>
          </a:p>
          <a:p>
            <a:pPr marL="4274122" lvl="6" indent="-305294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19" b="0" strike="noStrike" spc="-1">
                <a:solidFill>
                  <a:srgbClr val="000000"/>
                </a:solidFill>
                <a:latin typeface="Times New Roman"/>
              </a:rPr>
              <a:t>Seventh Outline Level</a:t>
            </a:r>
          </a:p>
        </p:txBody>
      </p:sp>
      <p:pic>
        <p:nvPicPr>
          <p:cNvPr id="17" name="Picture 2" descr="Logo.jpg"/>
          <p:cNvPicPr/>
          <p:nvPr/>
        </p:nvPicPr>
        <p:blipFill>
          <a:blip r:embed="rId14" cstate="print"/>
          <a:stretch/>
        </p:blipFill>
        <p:spPr>
          <a:xfrm>
            <a:off x="19516961" y="29794688"/>
            <a:ext cx="1526958" cy="345491"/>
          </a:xfrm>
          <a:prstGeom prst="rect">
            <a:avLst/>
          </a:prstGeom>
          <a:ln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>
      <a:lvl1pPr marL="610589" indent="-457942">
        <a:lnSpc>
          <a:spcPct val="100000"/>
        </a:lnSpc>
        <a:spcBef>
          <a:spcPts val="2003"/>
        </a:spcBef>
        <a:buClr>
          <a:srgbClr val="000000"/>
        </a:buClr>
        <a:buSzPct val="45000"/>
        <a:buFont typeface="Wingdings" charset="2"/>
        <a:buChar char=""/>
        <a:tabLst>
          <a:tab pos="0" algn="l"/>
        </a:tabLst>
        <a:defRPr/>
      </a:lvl1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corresauthor@bub.ernet.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CustomShape 1"/>
          <p:cNvSpPr/>
          <p:nvPr/>
        </p:nvSpPr>
        <p:spPr>
          <a:xfrm>
            <a:off x="367918" y="404769"/>
            <a:ext cx="20690812" cy="300918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1" name="TextShape 2"/>
          <p:cNvSpPr txBox="1"/>
          <p:nvPr/>
        </p:nvSpPr>
        <p:spPr>
          <a:xfrm>
            <a:off x="581942" y="3628422"/>
            <a:ext cx="6613692" cy="836506"/>
          </a:xfrm>
          <a:prstGeom prst="rect">
            <a:avLst/>
          </a:prstGeom>
          <a:solidFill>
            <a:srgbClr val="D7E4BD"/>
          </a:solidFill>
          <a:ln>
            <a:solidFill>
              <a:srgbClr val="0070C0"/>
            </a:solidFill>
          </a:ln>
        </p:spPr>
        <p:txBody>
          <a:bodyPr lIns="156209" tIns="78359" rIns="156209" bIns="78359" anchor="ctr">
            <a:noAutofit/>
          </a:bodyPr>
          <a:lstStyle/>
          <a:p>
            <a:pPr algn="ctr">
              <a:spcBef>
                <a:spcPts val="625"/>
              </a:spcBef>
              <a:tabLst>
                <a:tab pos="0" algn="l"/>
              </a:tabLst>
            </a:pPr>
            <a:r>
              <a:rPr lang="en-US" sz="3109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Introduction/Abstract (</a:t>
            </a:r>
            <a:r>
              <a:rPr lang="en-IN" sz="3109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28–36 </a:t>
            </a:r>
            <a:r>
              <a:rPr lang="en-IN" sz="3109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3109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3109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Shape 3"/>
          <p:cNvSpPr txBox="1"/>
          <p:nvPr/>
        </p:nvSpPr>
        <p:spPr>
          <a:xfrm>
            <a:off x="535230" y="4622664"/>
            <a:ext cx="6660404" cy="6430516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lIns="156209" tIns="78359" rIns="156209" bIns="78359">
            <a:noAutofit/>
          </a:bodyPr>
          <a:lstStyle/>
          <a:p>
            <a:pPr marL="346509" indent="-346000" algn="just">
              <a:spcBef>
                <a:spcPts val="365"/>
              </a:spcBef>
              <a:tabLst>
                <a:tab pos="0" algn="l"/>
              </a:tabLst>
            </a:pPr>
            <a:r>
              <a:rPr lang="en-US" sz="1823" spc="-1">
                <a:solidFill>
                  <a:srgbClr val="000000"/>
                </a:solidFill>
                <a:latin typeface="Times New Roman"/>
              </a:rPr>
              <a:t>	</a:t>
            </a:r>
          </a:p>
          <a:p>
            <a:pPr marL="346509" indent="-346000" algn="just">
              <a:spcBef>
                <a:spcPts val="365"/>
              </a:spcBef>
              <a:tabLst>
                <a:tab pos="0" algn="l"/>
              </a:tabLst>
            </a:pPr>
            <a:endParaRPr lang="en-US" sz="1823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TextShape 4"/>
          <p:cNvSpPr txBox="1"/>
          <p:nvPr/>
        </p:nvSpPr>
        <p:spPr>
          <a:xfrm>
            <a:off x="574818" y="11180894"/>
            <a:ext cx="6613692" cy="834471"/>
          </a:xfrm>
          <a:prstGeom prst="rect">
            <a:avLst/>
          </a:prstGeom>
          <a:solidFill>
            <a:srgbClr val="D7E4BD"/>
          </a:solidFill>
          <a:ln>
            <a:solidFill>
              <a:srgbClr val="0070C0"/>
            </a:solidFill>
          </a:ln>
        </p:spPr>
        <p:txBody>
          <a:bodyPr lIns="156209" tIns="78359" rIns="156209" bIns="78359" anchor="ctr">
            <a:noAutofit/>
          </a:bodyPr>
          <a:lstStyle/>
          <a:p>
            <a:pPr algn="ctr">
              <a:spcBef>
                <a:spcPts val="625"/>
              </a:spcBef>
              <a:tabLst>
                <a:tab pos="0" algn="l"/>
              </a:tabLst>
            </a:pPr>
            <a:r>
              <a:rPr lang="en-US" sz="3138" b="1" spc="-1" dirty="0">
                <a:solidFill>
                  <a:srgbClr val="000000"/>
                </a:solidFill>
                <a:latin typeface="Times New Roman"/>
              </a:rPr>
              <a:t>Objectives</a:t>
            </a:r>
            <a:endParaRPr lang="en-US" sz="3138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TextShape 5"/>
          <p:cNvSpPr txBox="1"/>
          <p:nvPr/>
        </p:nvSpPr>
        <p:spPr>
          <a:xfrm>
            <a:off x="605348" y="12207701"/>
            <a:ext cx="6613692" cy="362079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lIns="156209" tIns="78359" rIns="156209" bIns="78359">
            <a:noAutofit/>
          </a:bodyPr>
          <a:lstStyle/>
          <a:p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primary objective of the study.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research questions or hypotheses, where applicable.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parameters, materials, systems, or phenomena investigated. (20–28 </a:t>
            </a:r>
            <a:r>
              <a:rPr lang="en-IN" sz="226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65" name="TextShape 6"/>
          <p:cNvSpPr txBox="1"/>
          <p:nvPr/>
        </p:nvSpPr>
        <p:spPr>
          <a:xfrm>
            <a:off x="605348" y="15893112"/>
            <a:ext cx="6613692" cy="834471"/>
          </a:xfrm>
          <a:prstGeom prst="rect">
            <a:avLst/>
          </a:prstGeom>
          <a:solidFill>
            <a:srgbClr val="D7E4BD"/>
          </a:solidFill>
          <a:ln>
            <a:solidFill>
              <a:srgbClr val="0070C0"/>
            </a:solidFill>
          </a:ln>
        </p:spPr>
        <p:txBody>
          <a:bodyPr lIns="156209" tIns="78359" rIns="156209" bIns="78359" anchor="ctr">
            <a:noAutofit/>
          </a:bodyPr>
          <a:lstStyle/>
          <a:p>
            <a:pPr algn="ctr">
              <a:spcBef>
                <a:spcPts val="625"/>
              </a:spcBef>
              <a:tabLst>
                <a:tab pos="0" algn="l"/>
              </a:tabLst>
            </a:pPr>
            <a:r>
              <a:rPr lang="en-IN" sz="310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/ Experimental Setup / Theoretical Framework</a:t>
            </a:r>
            <a:endParaRPr lang="en-US" sz="3109" b="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Shape 7"/>
          <p:cNvSpPr txBox="1"/>
          <p:nvPr/>
        </p:nvSpPr>
        <p:spPr>
          <a:xfrm>
            <a:off x="574818" y="16904144"/>
            <a:ext cx="6613692" cy="12068306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lIns="156209" tIns="78359" rIns="156209" bIns="78359">
            <a:noAutofit/>
          </a:bodyPr>
          <a:lstStyle/>
          <a:p>
            <a:r>
              <a:rPr lang="en-IN" sz="2261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experimental studies:</a:t>
            </a:r>
            <a:endParaRPr lang="en-IN" sz="226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Materials and samples used.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 or apparatus.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conditions and parameters.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Measurement techniques and instruments.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experimental procedures.</a:t>
            </a:r>
          </a:p>
          <a:p>
            <a:r>
              <a:rPr lang="en-IN" sz="2261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theoretical/computational studies:</a:t>
            </a:r>
            <a:endParaRPr lang="en-IN" sz="226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Theoretical model or framework.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Governing equations or assumptions.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Computational/simulation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or numerical techniques, where relevant.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input parameters and boundary conditions.</a:t>
            </a:r>
          </a:p>
          <a:p>
            <a:pPr algn="just">
              <a:spcBef>
                <a:spcPts val="452"/>
              </a:spcBef>
              <a:tabLst>
                <a:tab pos="0" algn="l"/>
              </a:tabLst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(20–28 </a:t>
            </a:r>
            <a:r>
              <a:rPr lang="en-IN" sz="226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6509" indent="-346000" algn="just"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/>
            </a:endParaRPr>
          </a:p>
          <a:p>
            <a:pPr marL="346509" indent="-346000" algn="just">
              <a:spcBef>
                <a:spcPts val="365"/>
              </a:spcBef>
              <a:tabLst>
                <a:tab pos="0" algn="l"/>
              </a:tabLst>
            </a:pPr>
            <a:r>
              <a:rPr lang="en-IN" sz="1823" b="1" spc="-1" dirty="0">
                <a:solidFill>
                  <a:srgbClr val="000000"/>
                </a:solidFill>
                <a:latin typeface="Arial"/>
              </a:rPr>
              <a:t>		      </a:t>
            </a:r>
            <a:endParaRPr lang="en-US" sz="1823" spc="-1" dirty="0">
              <a:solidFill>
                <a:srgbClr val="000000"/>
              </a:solidFill>
              <a:latin typeface="Times New Roman"/>
            </a:endParaRPr>
          </a:p>
          <a:p>
            <a:pPr marL="346509" indent="-346000" algn="just">
              <a:spcBef>
                <a:spcPts val="365"/>
              </a:spcBef>
              <a:tabLst>
                <a:tab pos="0" algn="l"/>
              </a:tabLst>
            </a:pPr>
            <a:endParaRPr lang="en-US" sz="1823" spc="-1" dirty="0">
              <a:solidFill>
                <a:srgbClr val="000000"/>
              </a:solidFill>
              <a:latin typeface="Times New Roman"/>
            </a:endParaRPr>
          </a:p>
          <a:p>
            <a:pPr marL="346509" indent="-346000" algn="just">
              <a:spcAft>
                <a:spcPts val="1105"/>
              </a:spcAft>
              <a:tabLst>
                <a:tab pos="0" algn="l"/>
              </a:tabLst>
            </a:pPr>
            <a:endParaRPr lang="en-US" sz="1823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TextShape 8"/>
          <p:cNvSpPr txBox="1"/>
          <p:nvPr/>
        </p:nvSpPr>
        <p:spPr>
          <a:xfrm>
            <a:off x="7366090" y="3616211"/>
            <a:ext cx="6613692" cy="836506"/>
          </a:xfrm>
          <a:prstGeom prst="rect">
            <a:avLst/>
          </a:prstGeom>
          <a:solidFill>
            <a:srgbClr val="D7E4BD"/>
          </a:solidFill>
          <a:ln>
            <a:solidFill>
              <a:srgbClr val="0070C0"/>
            </a:solidFill>
          </a:ln>
        </p:spPr>
        <p:txBody>
          <a:bodyPr lIns="156209" tIns="78359" rIns="156209" bIns="78359" anchor="ctr">
            <a:noAutofit/>
          </a:bodyPr>
          <a:lstStyle/>
          <a:p>
            <a:pPr algn="ctr">
              <a:spcBef>
                <a:spcPts val="625"/>
              </a:spcBef>
              <a:tabLst>
                <a:tab pos="0" algn="l"/>
              </a:tabLst>
            </a:pPr>
            <a:r>
              <a:rPr lang="en-US" sz="3138" b="1" spc="-1" dirty="0">
                <a:solidFill>
                  <a:srgbClr val="000000"/>
                </a:solidFill>
                <a:latin typeface="Times New Roman"/>
              </a:rPr>
              <a:t>Results</a:t>
            </a:r>
            <a:endParaRPr lang="en-US" sz="3138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TextShape 9"/>
          <p:cNvSpPr txBox="1"/>
          <p:nvPr/>
        </p:nvSpPr>
        <p:spPr>
          <a:xfrm>
            <a:off x="14167538" y="13900884"/>
            <a:ext cx="6613692" cy="11670294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lIns="156209" tIns="78359" rIns="156209" bIns="78359">
            <a:noAutofit/>
          </a:bodyPr>
          <a:lstStyle/>
          <a:p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Depending on the work, this may include: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Funding agencies.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projects or grants.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institutions or laboratories.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support.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Collaborators or research facilities.</a:t>
            </a:r>
          </a:p>
          <a:p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Keep the acknowledgement brief.</a:t>
            </a:r>
          </a:p>
          <a:p>
            <a:pPr marL="420289" indent="-419780" algn="just">
              <a:spcBef>
                <a:spcPts val="452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20289" indent="-419780" algn="just">
              <a:spcBef>
                <a:spcPts val="452"/>
              </a:spcBef>
              <a:tabLst>
                <a:tab pos="0" algn="l"/>
              </a:tabLst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(20–28 </a:t>
            </a:r>
            <a:r>
              <a:rPr lang="en-IN" sz="226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452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/>
            </a:endParaRPr>
          </a:p>
          <a:p>
            <a:pPr marL="420289" indent="-419780" algn="just"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TextShape 10"/>
          <p:cNvSpPr txBox="1"/>
          <p:nvPr/>
        </p:nvSpPr>
        <p:spPr>
          <a:xfrm>
            <a:off x="14160230" y="3635709"/>
            <a:ext cx="6613692" cy="836506"/>
          </a:xfrm>
          <a:prstGeom prst="rect">
            <a:avLst/>
          </a:prstGeom>
          <a:solidFill>
            <a:srgbClr val="D7E4BD"/>
          </a:solidFill>
          <a:ln>
            <a:solidFill>
              <a:srgbClr val="0070C0"/>
            </a:solidFill>
          </a:ln>
        </p:spPr>
        <p:txBody>
          <a:bodyPr lIns="156209" tIns="78359" rIns="156209" bIns="78359" anchor="ctr">
            <a:noAutofit/>
          </a:bodyPr>
          <a:lstStyle/>
          <a:p>
            <a:pPr algn="ctr">
              <a:spcBef>
                <a:spcPts val="625"/>
              </a:spcBef>
              <a:tabLst>
                <a:tab pos="0" algn="l"/>
              </a:tabLst>
            </a:pPr>
            <a:r>
              <a:rPr lang="en-US" sz="3138" b="1" spc="-1">
                <a:solidFill>
                  <a:srgbClr val="000000"/>
                </a:solidFill>
                <a:latin typeface="Times New Roman"/>
              </a:rPr>
              <a:t>Conclusion</a:t>
            </a:r>
            <a:endParaRPr lang="en-US" sz="3138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TextShape 11"/>
          <p:cNvSpPr txBox="1"/>
          <p:nvPr/>
        </p:nvSpPr>
        <p:spPr>
          <a:xfrm>
            <a:off x="14160230" y="4594427"/>
            <a:ext cx="6613692" cy="803331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lIns="156209" tIns="78359" rIns="156209" bIns="78359">
            <a:noAutofit/>
          </a:bodyPr>
          <a:lstStyle/>
          <a:p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Summarize the </a:t>
            </a:r>
            <a:r>
              <a:rPr lang="en-IN" sz="2261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outcomes of the research</a:t>
            </a: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a few concise points.</a:t>
            </a:r>
          </a:p>
          <a:p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major findings.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Whether the stated objectives were achieved.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significant scientific or technological outcome.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quantitative results, where appropriate.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Potential applications or implications of the work.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scope, if relevant.</a:t>
            </a:r>
          </a:p>
          <a:p>
            <a:pPr algn="just">
              <a:spcBef>
                <a:spcPts val="452"/>
              </a:spcBef>
              <a:tabLst>
                <a:tab pos="0" algn="l"/>
              </a:tabLst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(20–28 </a:t>
            </a:r>
            <a:r>
              <a:rPr lang="en-IN" sz="226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20289" indent="-419780" algn="just">
              <a:spcBef>
                <a:spcPts val="452"/>
              </a:spcBef>
              <a:buClr>
                <a:srgbClr val="333333"/>
              </a:buClr>
              <a:buFont typeface="Arial"/>
              <a:buChar char="•"/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Bef>
                <a:spcPts val="365"/>
              </a:spcBef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20289" indent="-419780"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Shape 12"/>
          <p:cNvSpPr txBox="1"/>
          <p:nvPr/>
        </p:nvSpPr>
        <p:spPr>
          <a:xfrm>
            <a:off x="14160230" y="12868305"/>
            <a:ext cx="6613692" cy="834471"/>
          </a:xfrm>
          <a:prstGeom prst="rect">
            <a:avLst/>
          </a:prstGeom>
          <a:solidFill>
            <a:srgbClr val="D7E4BD"/>
          </a:solidFill>
          <a:ln>
            <a:solidFill>
              <a:srgbClr val="0070C0"/>
            </a:solidFill>
          </a:ln>
        </p:spPr>
        <p:txBody>
          <a:bodyPr lIns="156209" tIns="78359" rIns="156209" bIns="78359" anchor="ctr">
            <a:noAutofit/>
          </a:bodyPr>
          <a:lstStyle/>
          <a:p>
            <a:pPr algn="ctr">
              <a:spcBef>
                <a:spcPts val="625"/>
              </a:spcBef>
              <a:tabLst>
                <a:tab pos="0" algn="l"/>
              </a:tabLst>
            </a:pPr>
            <a:r>
              <a:rPr lang="en-US" sz="3138" b="1" spc="-1" dirty="0">
                <a:solidFill>
                  <a:srgbClr val="000000"/>
                </a:solidFill>
                <a:latin typeface="Times New Roman"/>
              </a:rPr>
              <a:t>Acknowledgements</a:t>
            </a:r>
            <a:endParaRPr lang="en-US" sz="3138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TextShape 13"/>
          <p:cNvSpPr txBox="1"/>
          <p:nvPr/>
        </p:nvSpPr>
        <p:spPr>
          <a:xfrm>
            <a:off x="7371178" y="4619102"/>
            <a:ext cx="6613692" cy="2435334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lIns="156209" tIns="78359" rIns="156209" bIns="78359">
            <a:noAutofit/>
          </a:bodyPr>
          <a:lstStyle/>
          <a:p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 the important findings of the research using: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Graphs and plots.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Microscopy/spectroscopy images.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photographs.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 results.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Comparative diagrams.</a:t>
            </a: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452"/>
              </a:spcBef>
              <a:tabLst>
                <a:tab pos="0" algn="l"/>
              </a:tabLst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(20–28 </a:t>
            </a:r>
            <a:r>
              <a:rPr lang="en-IN" sz="226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452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65"/>
              </a:spcBef>
              <a:tabLst>
                <a:tab pos="0" algn="l"/>
              </a:tabLst>
            </a:pPr>
            <a:endParaRPr lang="en-US" sz="2261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CustomShape 14"/>
          <p:cNvSpPr/>
          <p:nvPr/>
        </p:nvSpPr>
        <p:spPr>
          <a:xfrm>
            <a:off x="14167538" y="26759152"/>
            <a:ext cx="6663490" cy="221329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374" tIns="24932" rIns="50374" bIns="24932" anchor="ctr">
            <a:noAutofit/>
          </a:bodyPr>
          <a:lstStyle/>
          <a:p>
            <a:pPr marL="420289" indent="-419780" algn="just">
              <a:spcBef>
                <a:spcPts val="45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IN" sz="18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Australian Bureau of Statistics. (2008). </a:t>
            </a:r>
            <a:r>
              <a:rPr lang="en-IN" sz="1800" i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Childhood education and care (No. 4402.0)</a:t>
            </a:r>
            <a:r>
              <a:rPr lang="en-IN" sz="18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Retrieved from 	(</a:t>
            </a:r>
            <a:r>
              <a:rPr lang="en-US" sz="18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sample only, follow the pattern)</a:t>
            </a:r>
          </a:p>
          <a:p>
            <a:pPr marL="420289" indent="-419780" algn="just">
              <a:spcBef>
                <a:spcPts val="45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 only the 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relevant references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supporting the research.</a:t>
            </a:r>
            <a:endParaRPr lang="en-US" sz="18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20289" indent="-419780" algn="just">
              <a:spcBef>
                <a:spcPts val="45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3–5 key references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sufficient for a conference poster unless the nature of the research requires more.</a:t>
            </a:r>
            <a:endParaRPr lang="en-US" sz="18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CustomShape 16"/>
          <p:cNvSpPr/>
          <p:nvPr/>
        </p:nvSpPr>
        <p:spPr>
          <a:xfrm>
            <a:off x="3477645" y="623612"/>
            <a:ext cx="15054116" cy="111288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27206" tIns="63603" rIns="127206" bIns="63603">
            <a:spAutoFit/>
          </a:bodyPr>
          <a:lstStyle/>
          <a:p>
            <a:pPr algn="ctr"/>
            <a:r>
              <a:rPr lang="en-IN" sz="3597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 Title (Sample Poster; Size:</a:t>
            </a:r>
            <a:r>
              <a:rPr lang="en-IN" sz="35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597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A1</a:t>
            </a:r>
            <a:r>
              <a:rPr lang="en-IN" sz="3597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en-IN" sz="3597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 36–40 </a:t>
            </a:r>
            <a:r>
              <a:rPr lang="en-IN" sz="3597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3597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359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Author (Initial. Name)</a:t>
            </a:r>
            <a:r>
              <a:rPr lang="en-IN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1*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Second Author</a:t>
            </a:r>
            <a:r>
              <a:rPr lang="en-IN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Third Author</a:t>
            </a:r>
            <a:r>
              <a:rPr lang="en-IN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(Times New Roman font 28-32 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76" name="CustomShape 17"/>
          <p:cNvSpPr/>
          <p:nvPr/>
        </p:nvSpPr>
        <p:spPr>
          <a:xfrm>
            <a:off x="4935997" y="1670720"/>
            <a:ext cx="11511630" cy="123644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206" tIns="63603" rIns="127206" bIns="63603">
            <a:spAutoFit/>
          </a:bodyPr>
          <a:lstStyle/>
          <a:p>
            <a:pPr algn="ctr"/>
            <a:r>
              <a:rPr lang="en-IN" sz="2400" i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</a:t>
            </a: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Department, Institution, City, Country (24pt)</a:t>
            </a:r>
          </a:p>
          <a:p>
            <a:pPr algn="ctr"/>
            <a:r>
              <a:rPr lang="en-IN" sz="2400" i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</a:t>
            </a: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Department, Institution, City, Country</a:t>
            </a:r>
          </a:p>
          <a:p>
            <a:pPr algn="ctr"/>
            <a:r>
              <a:rPr lang="en-IN" sz="2400" i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Department, Institution, City, Country</a:t>
            </a:r>
          </a:p>
        </p:txBody>
      </p:sp>
      <p:sp>
        <p:nvSpPr>
          <p:cNvPr id="77" name="CustomShape 18"/>
          <p:cNvSpPr/>
          <p:nvPr/>
        </p:nvSpPr>
        <p:spPr>
          <a:xfrm>
            <a:off x="823449" y="4926713"/>
            <a:ext cx="6293133" cy="39555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27206" tIns="63603" rIns="127206" bIns="63603">
            <a:spAutoFit/>
          </a:bodyPr>
          <a:lstStyle/>
          <a:p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Briefly introduce the scientific problem, research area, and motivation behind the work.</a:t>
            </a:r>
          </a:p>
          <a:p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Relevant background and context of the study.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scientific or technological problem being addressed.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the problem is important or relevant.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brief mention of the existing knowledge or research gap.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specific motivation for undertaking the present work. (20–28 </a:t>
            </a:r>
            <a:r>
              <a:rPr lang="en-IN" sz="226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226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79" name="CustomShape 20"/>
          <p:cNvSpPr/>
          <p:nvPr/>
        </p:nvSpPr>
        <p:spPr>
          <a:xfrm>
            <a:off x="7888398" y="20170184"/>
            <a:ext cx="5828921" cy="468525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76320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127206" tIns="63603" rIns="127206" bIns="63603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figures, graphs, diagrams, photographs, and tables wherever appropriate.</a:t>
            </a:r>
          </a:p>
          <a:p>
            <a:pPr algn="ctr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Figure/table captions: 18–22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endParaRPr lang="en-IN" sz="2000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IN" sz="2827" spc="-1" dirty="0">
              <a:latin typeface="Arial"/>
            </a:endParaRPr>
          </a:p>
        </p:txBody>
      </p:sp>
      <p:sp>
        <p:nvSpPr>
          <p:cNvPr id="80" name="CustomShape 21"/>
          <p:cNvSpPr/>
          <p:nvPr/>
        </p:nvSpPr>
        <p:spPr>
          <a:xfrm>
            <a:off x="1240384" y="22823780"/>
            <a:ext cx="5672319" cy="468525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76320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127206" tIns="63603" rIns="127206" bIns="63603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figures, graphs, diagrams, photographs, and tables wherever appropriate.</a:t>
            </a:r>
          </a:p>
          <a:p>
            <a:pPr algn="ctr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Figure/table captions: 18–22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endParaRPr lang="en-IN" sz="2000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BC7F56-EC6A-BE31-E00D-663E0CE6E5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32" y="661758"/>
            <a:ext cx="2242666" cy="2242666"/>
          </a:xfrm>
          <a:prstGeom prst="rect">
            <a:avLst/>
          </a:prstGeom>
        </p:spPr>
      </p:pic>
      <p:sp>
        <p:nvSpPr>
          <p:cNvPr id="5" name="CustomShape 16">
            <a:extLst>
              <a:ext uri="{FF2B5EF4-FFF2-40B4-BE49-F238E27FC236}">
                <a16:creationId xmlns:a16="http://schemas.microsoft.com/office/drawing/2014/main" id="{5AAB574C-42F1-0D82-4E51-8073756D3209}"/>
              </a:ext>
            </a:extLst>
          </p:cNvPr>
          <p:cNvSpPr/>
          <p:nvPr/>
        </p:nvSpPr>
        <p:spPr>
          <a:xfrm>
            <a:off x="3300412" y="2836499"/>
            <a:ext cx="19917245" cy="43622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27206" tIns="63603" rIns="127206" bIns="63603">
            <a:spAutoFit/>
          </a:bodyPr>
          <a:lstStyle/>
          <a:p>
            <a:pPr algn="just"/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Corresponding author. Tel: +918022961234, Fax: + 918023211234, E-mail: </a:t>
            </a:r>
            <a:r>
              <a:rPr lang="en-IN" sz="2000" i="1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corresauthor@bub.ernet.in</a:t>
            </a: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(Times New Roman font 20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99B3266-2A5B-4506-E94A-D175A85C22C2}"/>
              </a:ext>
            </a:extLst>
          </p:cNvPr>
          <p:cNvSpPr/>
          <p:nvPr/>
        </p:nvSpPr>
        <p:spPr>
          <a:xfrm>
            <a:off x="18443679" y="567938"/>
            <a:ext cx="2402902" cy="2336486"/>
          </a:xfrm>
          <a:prstGeom prst="ellipse">
            <a:avLst/>
          </a:prstGeom>
          <a:solidFill>
            <a:schemeClr val="tx2">
              <a:lumMod val="5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97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8A1565-F192-11DF-A04E-B5604EF5E8B4}"/>
              </a:ext>
            </a:extLst>
          </p:cNvPr>
          <p:cNvSpPr txBox="1"/>
          <p:nvPr/>
        </p:nvSpPr>
        <p:spPr>
          <a:xfrm>
            <a:off x="18531761" y="1241608"/>
            <a:ext cx="22267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Place your institution</a:t>
            </a:r>
          </a:p>
          <a:p>
            <a:pPr algn="ctr"/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Logo </a:t>
            </a:r>
          </a:p>
        </p:txBody>
      </p:sp>
      <p:sp>
        <p:nvSpPr>
          <p:cNvPr id="7" name="TextShape 12">
            <a:extLst>
              <a:ext uri="{FF2B5EF4-FFF2-40B4-BE49-F238E27FC236}">
                <a16:creationId xmlns:a16="http://schemas.microsoft.com/office/drawing/2014/main" id="{3D9FB03F-7C92-07BB-9D8E-CE3521950014}"/>
              </a:ext>
            </a:extLst>
          </p:cNvPr>
          <p:cNvSpPr txBox="1"/>
          <p:nvPr/>
        </p:nvSpPr>
        <p:spPr>
          <a:xfrm>
            <a:off x="14160414" y="25758639"/>
            <a:ext cx="6648394" cy="834471"/>
          </a:xfrm>
          <a:prstGeom prst="rect">
            <a:avLst/>
          </a:prstGeom>
          <a:solidFill>
            <a:srgbClr val="D7E4BD"/>
          </a:solidFill>
          <a:ln>
            <a:solidFill>
              <a:srgbClr val="0070C0"/>
            </a:solidFill>
          </a:ln>
        </p:spPr>
        <p:txBody>
          <a:bodyPr lIns="156209" tIns="78359" rIns="156209" bIns="78359" anchor="ctr">
            <a:noAutofit/>
          </a:bodyPr>
          <a:lstStyle/>
          <a:p>
            <a:pPr algn="ctr">
              <a:spcBef>
                <a:spcPts val="625"/>
              </a:spcBef>
              <a:tabLst>
                <a:tab pos="0" algn="l"/>
              </a:tabLst>
            </a:pPr>
            <a:r>
              <a:rPr lang="en-US" sz="3138" b="1" spc="-1" dirty="0">
                <a:solidFill>
                  <a:srgbClr val="000000"/>
                </a:solidFill>
                <a:latin typeface="Times New Roman"/>
              </a:rPr>
              <a:t>References</a:t>
            </a:r>
            <a:endParaRPr lang="en-US" sz="3138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CustomShape 20">
            <a:extLst>
              <a:ext uri="{FF2B5EF4-FFF2-40B4-BE49-F238E27FC236}">
                <a16:creationId xmlns:a16="http://schemas.microsoft.com/office/drawing/2014/main" id="{1A3E7029-7743-2C26-9EF2-FB8C64F1509A}"/>
              </a:ext>
            </a:extLst>
          </p:cNvPr>
          <p:cNvSpPr/>
          <p:nvPr/>
        </p:nvSpPr>
        <p:spPr>
          <a:xfrm>
            <a:off x="7790785" y="8882235"/>
            <a:ext cx="5828921" cy="994157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127206" tIns="63603" rIns="127206" bIns="63603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IN" sz="2800" b="1" spc="-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IN" sz="2800" b="1" spc="-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IN" sz="2800" b="1" spc="-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IN" sz="2800" b="1" spc="-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IN" sz="2800" b="1" spc="-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IN" sz="2800" b="1" spc="-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IN" sz="2800" b="1" spc="-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r>
              <a:rPr lang="en-IN" sz="2800" b="1" spc="-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 instructions: </a:t>
            </a:r>
          </a:p>
          <a:p>
            <a:pPr algn="ctr">
              <a:lnSpc>
                <a:spcPct val="100000"/>
              </a:lnSpc>
            </a:pPr>
            <a:endParaRPr lang="en-IN" sz="2800" b="1" spc="-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Poster Size: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A1 (594 × 841 mm)</a:t>
            </a: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Orientation: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Portrait</a:t>
            </a: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Conference Logo: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 official ICAPST 2026 logo should be placed at the top-left corner of the poster. The participant's institutional logo should be placed at the top-right corner. Keep both logos similar in visual size and aligned horizontally.</a:t>
            </a:r>
          </a:p>
          <a:p>
            <a:pPr>
              <a:lnSpc>
                <a:spcPct val="100000"/>
              </a:lnSpc>
            </a:pPr>
            <a:endParaRPr lang="en-IN" sz="2400" spc="-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Recommended font style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Times New Roman. Use justified alignment</a:t>
            </a: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Poster Colour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 a clean, professional, and scientifically appropriate colour scheme.</a:t>
            </a:r>
          </a:p>
          <a:p>
            <a:pPr>
              <a:lnSpc>
                <a:spcPct val="100000"/>
              </a:lnSpc>
            </a:pP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Prefer a light or white background with dark text for maximum readability.</a:t>
            </a: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Size &amp; Visual Guidelines: </a:t>
            </a:r>
            <a:r>
              <a:rPr lang="en-I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high-resolution figures and images, Figures should be large enough to be clearly visible from 1–2 metres away.</a:t>
            </a: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IN" sz="3600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7EA1440-6A14-E611-10BB-54E90C710035}"/>
              </a:ext>
            </a:extLst>
          </p:cNvPr>
          <p:cNvSpPr/>
          <p:nvPr/>
        </p:nvSpPr>
        <p:spPr>
          <a:xfrm>
            <a:off x="19490402" y="29820750"/>
            <a:ext cx="1630906" cy="407538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CustomShape 15"/>
          <p:cNvSpPr/>
          <p:nvPr/>
        </p:nvSpPr>
        <p:spPr>
          <a:xfrm>
            <a:off x="297907" y="2766183"/>
            <a:ext cx="20690812" cy="27195796"/>
          </a:xfrm>
          <a:prstGeom prst="rect">
            <a:avLst/>
          </a:prstGeom>
          <a:noFill/>
          <a:ln w="38160">
            <a:solidFill>
              <a:srgbClr val="0070C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" name="CustomShape 14">
            <a:extLst>
              <a:ext uri="{FF2B5EF4-FFF2-40B4-BE49-F238E27FC236}">
                <a16:creationId xmlns:a16="http://schemas.microsoft.com/office/drawing/2014/main" id="{F670B2EC-C69E-023D-DBB3-394D7D1A6B15}"/>
              </a:ext>
            </a:extLst>
          </p:cNvPr>
          <p:cNvSpPr/>
          <p:nvPr/>
        </p:nvSpPr>
        <p:spPr>
          <a:xfrm>
            <a:off x="574818" y="29113795"/>
            <a:ext cx="20273578" cy="7484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374" tIns="24932" rIns="50374" bIns="24932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2000" b="1" baseline="30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International Conference on Advances in Physical Sciences &amp; Technologies</a:t>
            </a:r>
            <a:r>
              <a:rPr lang="en-US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(ICAPST-2026)</a:t>
            </a:r>
          </a:p>
          <a:p>
            <a:pPr algn="ctr">
              <a:tabLst>
                <a:tab pos="0" algn="l"/>
              </a:tabLst>
            </a:pPr>
            <a:r>
              <a:rPr lang="en-IN" sz="2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October 22-24, 2026, University of Rajasthan, Jaipur, Rajasthan</a:t>
            </a:r>
            <a:endParaRPr lang="en-IN" sz="2000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1891</TotalTime>
  <Words>666</Words>
  <Application>Microsoft Macintosh PowerPoint</Application>
  <PresentationFormat>Custom</PresentationFormat>
  <Paragraphs>124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Symbol</vt:lpstr>
      <vt:lpstr>Times New Roman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>Daniel Viens</dc:creator>
  <dc:description/>
  <cp:lastModifiedBy>mohsin khan</cp:lastModifiedBy>
  <cp:revision>170</cp:revision>
  <cp:lastPrinted>2016-10-19T06:21:06Z</cp:lastPrinted>
  <dcterms:created xsi:type="dcterms:W3CDTF">2013-01-28T22:40:39Z</dcterms:created>
  <dcterms:modified xsi:type="dcterms:W3CDTF">2026-09-20T18:14:08Z</dcterms:modified>
  <dc:language>en-IN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1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